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1" r:id="rId7"/>
    <p:sldId id="259" r:id="rId8"/>
    <p:sldId id="260" r:id="rId9"/>
    <p:sldId id="261" r:id="rId10"/>
    <p:sldId id="263" r:id="rId11"/>
    <p:sldId id="264" r:id="rId12"/>
    <p:sldId id="265" r:id="rId13"/>
    <p:sldId id="270" r:id="rId14"/>
    <p:sldId id="269" r:id="rId15"/>
  </p:sldIdLst>
  <p:sldSz cx="12192000" cy="6858000"/>
  <p:notesSz cx="6858000" cy="9144000"/>
  <p:embeddedFontLst>
    <p:embeddedFont>
      <p:font typeface="Play" panose="00000500000000000000"/>
      <p:regular r:id="rId19"/>
    </p:embeddedFont>
    <p:embeddedFont>
      <p:font typeface="Montserrat" panose="00000500000000000000"/>
      <p:regular r:id="rId20"/>
    </p:embeddedFont>
    <p:embeddedFont>
      <p:font typeface="Calibri" panose="020F0502020204030204"/>
      <p:regular r:id="rId21"/>
      <p:bold r:id="rId22"/>
      <p:italic r:id="rId23"/>
      <p:boldItalic r:id="rId24"/>
    </p:embeddedFont>
    <p:embeddedFont>
      <p:font typeface="Roboto Mono" panose="0000000900000000000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65A9AC-2AAD-4B7A-B530-36E07F061F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font" Target="fonts/font10.fntdata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eb253055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2" name="Google Shape;192;g34eb253055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2" name="Google Shape;2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2" name="Google Shape;24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3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3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624026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pic>
        <p:nvPicPr>
          <p:cNvPr id="6" name="Picture 5" descr="Logo&#10;&#10;Description automatically generated with medium confidenc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394" y="6235532"/>
            <a:ext cx="1986357" cy="492818"/>
          </a:xfrm>
          <a:prstGeom prst="rect">
            <a:avLst/>
          </a:prstGeom>
        </p:spPr>
      </p:pic>
      <p:pic>
        <p:nvPicPr>
          <p:cNvPr id="7" name="Picture 6" descr="Shape, circle&#10;&#10;Description automatically generated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 rot="5400000">
            <a:off x="11230144" y="0"/>
            <a:ext cx="989151" cy="9891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4"/>
          <a:srcRect t="28685" r="12049"/>
          <a:stretch>
            <a:fillRect/>
          </a:stretch>
        </p:blipFill>
        <p:spPr>
          <a:xfrm>
            <a:off x="9797143" y="481755"/>
            <a:ext cx="2422152" cy="1581734"/>
          </a:xfrm>
          <a:prstGeom prst="rect">
            <a:avLst/>
          </a:prstGeom>
        </p:spPr>
      </p:pic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Preeti Mishra | preeti.m@regenesys.net</a:t>
            </a:r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  <a:defRPr sz="4400" b="0" i="0" u="none" strike="noStrike" cap="none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Google Shape;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Google Shape;1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1"/>
          <a:srcRect r="54788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 extrusionOk="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662152" y="578069"/>
            <a:ext cx="5300700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4400" b="1" dirty="0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 Deploying ML models</a:t>
            </a:r>
            <a:endParaRPr lang="en-US" sz="4400" b="1" dirty="0">
              <a:solidFill>
                <a:schemeClr val="accent3"/>
              </a:solidFill>
              <a:latin typeface="Play" panose="00000500000000000000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62152" y="5157263"/>
            <a:ext cx="6096000" cy="131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959"/>
              </a:buClr>
              <a:buSzPts val="24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rgbClr val="008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Facilitated by: </a:t>
            </a:r>
            <a:endParaRPr lang="en-US" sz="1800" b="1" i="0" u="none" strike="noStrike" cap="none" dirty="0">
              <a:solidFill>
                <a:srgbClr val="00895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959"/>
              </a:buClr>
              <a:buSzPts val="24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rgbClr val="008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Vrushali Sarwan</a:t>
            </a: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 panose="020B0604020202020204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Senior Facilitator</a:t>
            </a: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 panose="020B0604020202020204"/>
              <a:buNone/>
            </a:pPr>
            <a:r>
              <a:rPr lang="en-US" sz="1600" b="0" i="0" u="none" strike="noStrike" cap="none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Email: vrushalis@regenesys.net</a:t>
            </a:r>
            <a:endParaRPr sz="16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10180579" y="-1843462"/>
            <a:ext cx="4516821" cy="443834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10720548" y="-1377866"/>
            <a:ext cx="3436882" cy="342104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11298618" y="-759408"/>
            <a:ext cx="2280744" cy="2270234"/>
          </a:xfrm>
          <a:prstGeom prst="ellipse">
            <a:avLst/>
          </a:prstGeom>
          <a:solidFill>
            <a:srgbClr val="008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4" name="Google Shape;94;p2" descr="A green text on a black background&#10;&#10;AI-generated content may be incorrect.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382252" y="5626100"/>
            <a:ext cx="2806700" cy="12319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 txBox="1"/>
          <p:nvPr/>
        </p:nvSpPr>
        <p:spPr>
          <a:xfrm>
            <a:off x="287806" y="135847"/>
            <a:ext cx="9387490" cy="117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Play" panose="00000500000000000000"/>
              <a:buNone/>
            </a:pPr>
            <a:r>
              <a:rPr lang="en-US" sz="3600" b="1" i="0" u="none" strike="noStrike" cap="none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REGENESYS</a:t>
            </a:r>
            <a:r>
              <a:rPr lang="en-US" sz="2800" b="1" i="0" u="none" strike="noStrike" cap="none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’ </a:t>
            </a:r>
            <a:r>
              <a:rPr lang="en-US" sz="3600" b="1" i="0" u="none" strike="noStrike" cap="none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Integrated</a:t>
            </a:r>
            <a:r>
              <a:rPr lang="en-US" sz="2800" b="1" i="0" u="none" strike="noStrike" cap="none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 </a:t>
            </a:r>
            <a:r>
              <a:rPr lang="en-US" sz="3600" b="1" i="0" u="none" strike="noStrike" cap="none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Leadership</a:t>
            </a:r>
            <a:r>
              <a:rPr lang="en-US" sz="2800" b="1" i="0" u="none" strike="noStrike" cap="none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 </a:t>
            </a:r>
            <a:r>
              <a:rPr lang="en-US" sz="3600" b="1" i="0" u="none" strike="noStrike" cap="none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and</a:t>
            </a:r>
            <a:r>
              <a:rPr lang="en-US" sz="2800" b="1" i="0" u="none" strike="noStrike" cap="none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 </a:t>
            </a:r>
            <a:r>
              <a:rPr lang="en-US" sz="3600" b="1" i="0" u="none" strike="noStrike" cap="none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Management</a:t>
            </a:r>
            <a:r>
              <a:rPr lang="en-US" sz="2800" b="1" i="0" u="none" strike="noStrike" cap="none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 </a:t>
            </a:r>
            <a:r>
              <a:rPr lang="en-US" sz="3600" b="1" i="0" u="none" strike="noStrike" cap="none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model</a:t>
            </a:r>
            <a:endParaRPr sz="3600" b="1" i="0" u="none" strike="noStrike" cap="none">
              <a:solidFill>
                <a:schemeClr val="accent3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pic>
        <p:nvPicPr>
          <p:cNvPr id="96" name="Google Shape;96;p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571462" y="1314017"/>
            <a:ext cx="4383897" cy="45188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2"/>
          <p:cNvGrpSpPr/>
          <p:nvPr/>
        </p:nvGrpSpPr>
        <p:grpSpPr>
          <a:xfrm>
            <a:off x="1009424" y="1404950"/>
            <a:ext cx="4022068" cy="4655307"/>
            <a:chOff x="0" y="4210"/>
            <a:chExt cx="4022068" cy="4655307"/>
          </a:xfrm>
        </p:grpSpPr>
        <p:sp>
          <p:nvSpPr>
            <p:cNvPr id="98" name="Google Shape;98;p2"/>
            <p:cNvSpPr/>
            <p:nvPr/>
          </p:nvSpPr>
          <p:spPr>
            <a:xfrm>
              <a:off x="0" y="4210"/>
              <a:ext cx="4022068" cy="871168"/>
            </a:xfrm>
            <a:prstGeom prst="roundRect">
              <a:avLst>
                <a:gd name="adj" fmla="val 10000"/>
              </a:avLst>
            </a:prstGeom>
            <a:solidFill>
              <a:srgbClr val="CAD1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263528" y="200223"/>
              <a:ext cx="479611" cy="479142"/>
            </a:xfrm>
            <a:prstGeom prst="rect">
              <a:avLst/>
            </a:prstGeom>
            <a:blipFill rotWithShape="1">
              <a:blip r:embed="rId3"/>
              <a:stretch>
                <a:fillRect/>
              </a:stretch>
            </a:blip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006668" y="4210"/>
              <a:ext cx="2954933" cy="980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1006668" y="4210"/>
              <a:ext cx="2954933" cy="980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3700" tIns="103700" rIns="103700" bIns="103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Holistic focus on the individual (SQ, EQ, IQ, and PQ) </a:t>
              </a:r>
              <a:endPara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0" y="1229291"/>
              <a:ext cx="4022068" cy="871168"/>
            </a:xfrm>
            <a:prstGeom prst="roundRect">
              <a:avLst>
                <a:gd name="adj" fmla="val 10000"/>
              </a:avLst>
            </a:prstGeom>
            <a:solidFill>
              <a:srgbClr val="CAD1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263528" y="1425304"/>
              <a:ext cx="479611" cy="479142"/>
            </a:xfrm>
            <a:prstGeom prst="rect">
              <a:avLst/>
            </a:prstGeom>
            <a:blipFill rotWithShape="1">
              <a:blip r:embed="rId4"/>
              <a:stretch>
                <a:fillRect/>
              </a:stretch>
            </a:blip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006668" y="1229291"/>
              <a:ext cx="2954933" cy="980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1006668" y="1229291"/>
              <a:ext cx="2954933" cy="980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3700" tIns="103700" rIns="103700" bIns="103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Interrelationships are dynamic between individual, team, institution and the external environment (systemic)</a:t>
              </a:r>
              <a:endPara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0" y="2454372"/>
              <a:ext cx="4022068" cy="871168"/>
            </a:xfrm>
            <a:prstGeom prst="roundRect">
              <a:avLst>
                <a:gd name="adj" fmla="val 10000"/>
              </a:avLst>
            </a:prstGeom>
            <a:solidFill>
              <a:srgbClr val="CAD1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263528" y="2650385"/>
              <a:ext cx="479611" cy="479142"/>
            </a:xfrm>
            <a:prstGeom prst="rect">
              <a:avLst/>
            </a:prstGeom>
            <a:blipFill rotWithShape="1">
              <a:blip r:embed="rId5"/>
              <a:stretch>
                <a:fillRect/>
              </a:stretch>
            </a:blip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006668" y="2454372"/>
              <a:ext cx="2954933" cy="980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1006668" y="2454372"/>
              <a:ext cx="2954933" cy="980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3700" tIns="103700" rIns="103700" bIns="103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Strategy affects individual, team, organisational, and environmental performance </a:t>
              </a:r>
              <a:endPara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0" y="3679453"/>
              <a:ext cx="4022068" cy="871168"/>
            </a:xfrm>
            <a:prstGeom prst="roundRect">
              <a:avLst>
                <a:gd name="adj" fmla="val 10000"/>
              </a:avLst>
            </a:prstGeom>
            <a:solidFill>
              <a:srgbClr val="CAD1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263528" y="3875466"/>
              <a:ext cx="479611" cy="479142"/>
            </a:xfrm>
            <a:prstGeom prst="rect">
              <a:avLst/>
            </a:prstGeom>
            <a:blipFill rotWithShape="1">
              <a:blip r:embed="rId6"/>
              <a:stretch>
                <a:fillRect/>
              </a:stretch>
            </a:blip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006668" y="3679453"/>
              <a:ext cx="2954933" cy="980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1006668" y="3679453"/>
              <a:ext cx="2954933" cy="980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3700" tIns="103700" rIns="103700" bIns="103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Delivery requires alignment of strategy, structure, systems and culture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3" descr="A green text on a black background&#10;&#10;AI-generated content may be incorrect.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382252" y="5626100"/>
            <a:ext cx="2806700" cy="123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>
            <a:off x="355601" y="332656"/>
            <a:ext cx="9387490" cy="67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Play" panose="00000500000000000000"/>
              <a:buNone/>
            </a:pPr>
            <a:r>
              <a:rPr lang="en-US" sz="3600" b="1" i="0" u="none" strike="noStrike" cap="none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REGENESYS</a:t>
            </a:r>
            <a:r>
              <a:rPr lang="en-US" sz="2800" b="1" i="0" u="none" strike="noStrike" cap="none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’ </a:t>
            </a:r>
            <a:r>
              <a:rPr lang="en-US" sz="3600" b="1" i="0" u="none" strike="noStrike" cap="none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Graduate</a:t>
            </a:r>
            <a:r>
              <a:rPr lang="en-US" sz="2800" b="1" i="0" u="none" strike="noStrike" cap="none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 </a:t>
            </a:r>
            <a:r>
              <a:rPr lang="en-US" sz="3600" b="1" i="0" u="none" strike="noStrike" cap="none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Attribute</a:t>
            </a:r>
            <a:endParaRPr sz="3600" b="1" i="0" u="none" strike="noStrike" cap="none">
              <a:solidFill>
                <a:schemeClr val="accent3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pic>
        <p:nvPicPr>
          <p:cNvPr id="120" name="Google Shape;120;p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216648" y="1387330"/>
            <a:ext cx="7986473" cy="445948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/>
          <p:nvPr/>
        </p:nvSpPr>
        <p:spPr>
          <a:xfrm>
            <a:off x="10180579" y="-1843462"/>
            <a:ext cx="4516821" cy="443834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10720548" y="-1377866"/>
            <a:ext cx="3436882" cy="342104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11298618" y="-759408"/>
            <a:ext cx="2280744" cy="2270234"/>
          </a:xfrm>
          <a:prstGeom prst="ellipse">
            <a:avLst/>
          </a:prstGeom>
          <a:solidFill>
            <a:srgbClr val="008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632461"/>
            <a:ext cx="10515600" cy="624026"/>
          </a:xfrm>
        </p:spPr>
        <p:txBody>
          <a:bodyPr/>
          <a:lstStyle/>
          <a:p>
            <a:r>
              <a:rPr lang="en-US" altLang="en-IN" dirty="0"/>
              <a:t>Vrushali Sarwan</a:t>
            </a:r>
            <a:endParaRPr lang="en-US" altLang="en-IN" dirty="0"/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401118" y="1546946"/>
            <a:ext cx="8508161" cy="473150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D600"/>
              </a:buClr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Futura Medium" panose="020B0602020204020303" pitchFamily="34" charset="-79"/>
                <a:ea typeface="+mn-ea"/>
                <a:cs typeface="Futura Medium" panose="020B0602020204020303" pitchFamily="34" charset="-79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D600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Futura Medium" panose="020B0602020204020303" pitchFamily="34" charset="-79"/>
                <a:ea typeface="+mn-ea"/>
                <a:cs typeface="Futura Medium" panose="020B0602020204020303" pitchFamily="34" charset="-79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D600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Futura Medium" panose="020B0602020204020303" pitchFamily="34" charset="-79"/>
                <a:ea typeface="+mn-ea"/>
                <a:cs typeface="Futura Medium" panose="020B0602020204020303" pitchFamily="34" charset="-79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D600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Futura Medium" panose="020B0602020204020303" pitchFamily="34" charset="-79"/>
                <a:ea typeface="+mn-ea"/>
                <a:cs typeface="Futura Medium" panose="020B0602020204020303" pitchFamily="34" charset="-79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D600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Futura Medium" panose="020B0602020204020303" pitchFamily="34" charset="-79"/>
                <a:ea typeface="+mn-ea"/>
                <a:cs typeface="Futura Medium" panose="020B0602020204020303" pitchFamily="34" charset="-79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00000"/>
              </a:lnSpc>
              <a:spcBef>
                <a:spcPts val="1200"/>
              </a:spcBef>
              <a:buFont typeface="Arial,Sans-Serif"/>
              <a:buChar char="•"/>
            </a:pPr>
            <a:r>
              <a:rPr lang="en-US" sz="1800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With 8 years of expertise spanning Machine Learning, Artificial Intelligence, Data Analytics Tools, Natural Language Processing, Training &amp; Facilitation, and Academia </a:t>
            </a:r>
            <a:endParaRPr lang="en-US" sz="1800" dirty="0">
              <a:solidFill>
                <a:srgbClr val="000000"/>
              </a:solidFill>
              <a:latin typeface="+mn-lt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1200"/>
              </a:spcBef>
              <a:buFont typeface="Arial,Sans-Serif"/>
              <a:buChar char="•"/>
            </a:pPr>
            <a:r>
              <a:rPr lang="en-US" sz="1800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Qualifications-</a:t>
            </a:r>
            <a:endParaRPr lang="en-US" sz="1800" dirty="0">
              <a:solidFill>
                <a:srgbClr val="000000"/>
              </a:solidFill>
              <a:latin typeface="+mn-lt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0000"/>
              </a:lnSpc>
              <a:spcBef>
                <a:spcPts val="1200"/>
              </a:spcBef>
              <a:buFont typeface="Arial,Sans-Serif"/>
              <a:buChar char="•"/>
            </a:pPr>
            <a:r>
              <a:rPr lang="en-US" sz="1800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M.S.(Specialization- Data Science) </a:t>
            </a:r>
            <a:endParaRPr lang="en-US" sz="1800" dirty="0">
              <a:solidFill>
                <a:srgbClr val="000000"/>
              </a:solidFill>
              <a:latin typeface="+mn-lt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0000"/>
              </a:lnSpc>
              <a:spcBef>
                <a:spcPts val="1200"/>
              </a:spcBef>
              <a:buFont typeface="Arial,Sans-Serif"/>
              <a:buChar char="•"/>
            </a:pPr>
            <a:r>
              <a:rPr lang="en-US" sz="1800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B.S.(Computer Science)</a:t>
            </a:r>
            <a:endParaRPr lang="en-US" sz="1800" dirty="0">
              <a:solidFill>
                <a:srgbClr val="000000"/>
              </a:solidFill>
              <a:latin typeface="+mn-lt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1200"/>
              </a:spcBef>
              <a:buFont typeface="Arial,Sans-Serif"/>
              <a:buChar char="•"/>
            </a:pPr>
            <a:r>
              <a:rPr lang="en-US" sz="1800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Well versed in programming languages - C, C++, Python, R. Concepts- Data Structures, HTML, CSS, Java Script,  Object-oriented analysis. Tools – Excel, </a:t>
            </a:r>
            <a:r>
              <a:rPr lang="en-US" sz="1800" dirty="0" err="1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PowerBI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. </a:t>
            </a:r>
            <a:endParaRPr lang="en-US" sz="1800" dirty="0">
              <a:solidFill>
                <a:srgbClr val="000000"/>
              </a:solidFill>
              <a:latin typeface="+mn-lt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1200"/>
              </a:spcBef>
              <a:buFont typeface="Arial,Sans-Serif"/>
              <a:buChar char="•"/>
            </a:pPr>
            <a:r>
              <a:rPr lang="en-US" sz="1800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Provided Expert Guidance on Projects </a:t>
            </a:r>
            <a:endParaRPr lang="en-US" sz="1800" dirty="0">
              <a:solidFill>
                <a:srgbClr val="000000"/>
              </a:solidFill>
              <a:latin typeface="+mn-lt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1200"/>
              </a:spcBef>
              <a:buFont typeface="Arial,Sans-Serif"/>
              <a:buChar char="•"/>
            </a:pPr>
            <a:r>
              <a:rPr lang="en-US" sz="1800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Bagged a few Research Publications </a:t>
            </a:r>
            <a:endParaRPr lang="en-US" sz="1800" dirty="0">
              <a:solidFill>
                <a:srgbClr val="000000"/>
              </a:solidFill>
              <a:latin typeface="+mn-lt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1200"/>
              </a:spcBef>
              <a:buFont typeface="Arial,Sans-Serif"/>
              <a:buChar char="•"/>
            </a:pPr>
            <a:endParaRPr lang="en-IN" sz="1800" dirty="0">
              <a:solidFill>
                <a:srgbClr val="000000"/>
              </a:solidFill>
              <a:latin typeface="+mn-lt"/>
              <a:cs typeface="Times New Roman" panose="02020603050405020304" pitchFamily="18" charset="0"/>
            </a:endParaRPr>
          </a:p>
          <a:p>
            <a:pPr algn="just"/>
            <a:endParaRPr lang="en-US" sz="1800" dirty="0"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3" name="Picture 2" descr="Vrushali Sarwan Phot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6715" y="2045335"/>
            <a:ext cx="2077085" cy="25146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2" name="Text Box 1"/>
          <p:cNvSpPr txBox="1"/>
          <p:nvPr/>
        </p:nvSpPr>
        <p:spPr>
          <a:xfrm>
            <a:off x="4017645" y="6441440"/>
            <a:ext cx="4156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bg1">
                    <a:lumMod val="65000"/>
                  </a:schemeClr>
                </a:solidFill>
              </a:rPr>
              <a:t>Vrushali Sarwan|vrushalis@regenesys.net</a:t>
            </a:r>
            <a:endParaRPr lang="en-US" altLang="en-GB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4" descr="A green text on a black background&#10;&#10;AI-generated content may be incorrect.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382252" y="5626100"/>
            <a:ext cx="2806700" cy="123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 txBox="1"/>
          <p:nvPr/>
        </p:nvSpPr>
        <p:spPr>
          <a:xfrm>
            <a:off x="355601" y="332656"/>
            <a:ext cx="9387490" cy="67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Play" panose="00000500000000000000"/>
              <a:buNone/>
            </a:pPr>
            <a:r>
              <a:rPr lang="en-US" sz="3600" b="1" i="0" u="none" strike="noStrike" cap="none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Ground</a:t>
            </a:r>
            <a:r>
              <a:rPr lang="en-US" sz="2800" b="1" i="0" u="none" strike="noStrike" cap="none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 </a:t>
            </a:r>
            <a:r>
              <a:rPr lang="en-US" sz="3600" b="1" i="0" u="none" strike="noStrike" cap="none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Rules</a:t>
            </a:r>
            <a:endParaRPr sz="3600" b="1" i="0" u="none" strike="noStrike" cap="none">
              <a:solidFill>
                <a:schemeClr val="accent3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grpSp>
        <p:nvGrpSpPr>
          <p:cNvPr id="130" name="Google Shape;130;p4"/>
          <p:cNvGrpSpPr/>
          <p:nvPr/>
        </p:nvGrpSpPr>
        <p:grpSpPr>
          <a:xfrm>
            <a:off x="774839" y="1098010"/>
            <a:ext cx="8067443" cy="5518080"/>
            <a:chOff x="0" y="19199"/>
            <a:chExt cx="8067443" cy="5518080"/>
          </a:xfrm>
        </p:grpSpPr>
        <p:sp>
          <p:nvSpPr>
            <p:cNvPr id="131" name="Google Shape;131;p4"/>
            <p:cNvSpPr/>
            <p:nvPr/>
          </p:nvSpPr>
          <p:spPr>
            <a:xfrm>
              <a:off x="0" y="19199"/>
              <a:ext cx="8067443" cy="748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2" name="Google Shape;132;p4"/>
            <p:cNvSpPr txBox="1"/>
            <p:nvPr/>
          </p:nvSpPr>
          <p:spPr>
            <a:xfrm>
              <a:off x="36553" y="55752"/>
              <a:ext cx="7994337" cy="675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Montserrat" panose="00000500000000000000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Active Listening</a:t>
              </a:r>
              <a:endPara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Listen attentively, understand, and respond effectively</a:t>
              </a:r>
              <a:endPara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0" y="814079"/>
              <a:ext cx="8067443" cy="748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4" name="Google Shape;134;p4"/>
            <p:cNvSpPr txBox="1"/>
            <p:nvPr/>
          </p:nvSpPr>
          <p:spPr>
            <a:xfrm>
              <a:off x="36553" y="850632"/>
              <a:ext cx="7994337" cy="675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Montserrat" panose="00000500000000000000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Respectful Communication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Communicate openly and respectfully with your peers and facilitators</a:t>
              </a:r>
              <a:endPara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0" y="1608959"/>
              <a:ext cx="8067443" cy="748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6" name="Google Shape;136;p4"/>
            <p:cNvSpPr txBox="1"/>
            <p:nvPr/>
          </p:nvSpPr>
          <p:spPr>
            <a:xfrm>
              <a:off x="36553" y="1645512"/>
              <a:ext cx="7994337" cy="675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Montserrat" panose="00000500000000000000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Come Prepared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Arrive with the necessary information and materials for productive discussions</a:t>
              </a:r>
              <a:endPara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0" y="2403839"/>
              <a:ext cx="8067443" cy="748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8" name="Google Shape;138;p4"/>
            <p:cNvSpPr txBox="1"/>
            <p:nvPr/>
          </p:nvSpPr>
          <p:spPr>
            <a:xfrm>
              <a:off x="36553" y="2440392"/>
              <a:ext cx="7994337" cy="675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Montserrat" panose="00000500000000000000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Be on Time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Respect others' time and be punctual for all engagements</a:t>
              </a:r>
              <a:endPara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0" y="3198719"/>
              <a:ext cx="8067443" cy="748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36553" y="3235272"/>
              <a:ext cx="7994337" cy="675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Montserrat" panose="00000500000000000000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Embrace Challenges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View challenges as opportunities for growth and learning</a:t>
              </a:r>
              <a:endPara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0" y="3993599"/>
              <a:ext cx="8067443" cy="748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2" name="Google Shape;142;p4"/>
            <p:cNvSpPr txBox="1"/>
            <p:nvPr/>
          </p:nvSpPr>
          <p:spPr>
            <a:xfrm>
              <a:off x="36553" y="4030152"/>
              <a:ext cx="7994337" cy="675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Montserrat" panose="00000500000000000000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Follow Online Etiquettes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 panose="020B0604020202020204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Adhere to respectful and professional behavior in virtual learning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0" y="4788479"/>
              <a:ext cx="8067443" cy="748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4" name="Google Shape;144;p4"/>
            <p:cNvSpPr txBox="1"/>
            <p:nvPr/>
          </p:nvSpPr>
          <p:spPr>
            <a:xfrm>
              <a:off x="36553" y="4825032"/>
              <a:ext cx="7994337" cy="675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20204"/>
                <a:buNone/>
              </a:pPr>
              <a:r>
                <a:rPr lang="en-US" sz="2800" b="1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Have fun and enjoy the learning!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45" name="Google Shape;145;p4"/>
          <p:cNvSpPr/>
          <p:nvPr/>
        </p:nvSpPr>
        <p:spPr>
          <a:xfrm>
            <a:off x="10180579" y="-1843462"/>
            <a:ext cx="4516821" cy="443834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10720548" y="-1377866"/>
            <a:ext cx="3436882" cy="342104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11298618" y="-759408"/>
            <a:ext cx="2280744" cy="2270234"/>
          </a:xfrm>
          <a:prstGeom prst="ellipse">
            <a:avLst/>
          </a:prstGeom>
          <a:solidFill>
            <a:srgbClr val="008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5" descr="A green text on a black background&#10;&#10;AI-generated content may be incorrect.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382252" y="5626100"/>
            <a:ext cx="2806700" cy="123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 txBox="1"/>
          <p:nvPr/>
        </p:nvSpPr>
        <p:spPr>
          <a:xfrm>
            <a:off x="355601" y="332656"/>
            <a:ext cx="9387490" cy="67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Learning Objectives</a:t>
            </a:r>
            <a:endParaRPr lang="en-US" sz="3600" b="1">
              <a:solidFill>
                <a:schemeClr val="accent3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Play" panose="00000500000000000000"/>
              <a:buNone/>
            </a:pPr>
            <a:endParaRPr sz="3600" b="1" i="0" u="none" strike="noStrike" cap="none">
              <a:solidFill>
                <a:schemeClr val="accent3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10180579" y="-1843462"/>
            <a:ext cx="4516821" cy="443834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10720548" y="-1377866"/>
            <a:ext cx="3436882" cy="342104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11298618" y="-759408"/>
            <a:ext cx="2280744" cy="2270234"/>
          </a:xfrm>
          <a:prstGeom prst="ellipse">
            <a:avLst/>
          </a:prstGeom>
          <a:solidFill>
            <a:srgbClr val="008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733095" y="1293223"/>
            <a:ext cx="87471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</a:rPr>
              <a:t>Understand what </a:t>
            </a:r>
            <a:r>
              <a:rPr lang="en-US" sz="2000" dirty="0" err="1">
                <a:solidFill>
                  <a:schemeClr val="dk1"/>
                </a:solidFill>
              </a:rPr>
              <a:t>Streamlit</a:t>
            </a:r>
            <a:r>
              <a:rPr lang="en-US" sz="2000" dirty="0">
                <a:solidFill>
                  <a:schemeClr val="dk1"/>
                </a:solidFill>
              </a:rPr>
              <a:t> is and why it's useful</a:t>
            </a:r>
            <a:endParaRPr sz="2000" dirty="0">
              <a:solidFill>
                <a:schemeClr val="dk1"/>
              </a:solidFill>
            </a:endParaRPr>
          </a:p>
          <a:p>
            <a:pPr marL="457200" indent="-355600">
              <a:lnSpc>
                <a:spcPct val="200000"/>
              </a:lnSpc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</a:rPr>
              <a:t>Build a  interactive web app with frontend inputs and backend logic</a:t>
            </a:r>
            <a:endParaRPr sz="2000" dirty="0">
              <a:solidFill>
                <a:schemeClr val="dk1"/>
              </a:solidFill>
            </a:endParaRPr>
          </a:p>
          <a:p>
            <a:pPr marL="457200" indent="-355600">
              <a:lnSpc>
                <a:spcPct val="200000"/>
              </a:lnSpc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 dirty="0">
                <a:solidFill>
                  <a:schemeClr val="dk1"/>
                </a:solidFill>
              </a:rPr>
              <a:t>Build a simple Car Price Prediction app using </a:t>
            </a:r>
            <a:r>
              <a:rPr lang="en-US" sz="2000" dirty="0" err="1">
                <a:solidFill>
                  <a:schemeClr val="dk1"/>
                </a:solidFill>
              </a:rPr>
              <a:t>Streamlit</a:t>
            </a:r>
            <a:endParaRPr sz="2000" dirty="0" err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6" descr="A green text on a black background&#10;&#10;AI-generated content may be incorrect.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382252" y="5626100"/>
            <a:ext cx="2806700" cy="123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"/>
          <p:cNvSpPr txBox="1"/>
          <p:nvPr/>
        </p:nvSpPr>
        <p:spPr>
          <a:xfrm>
            <a:off x="733095" y="332656"/>
            <a:ext cx="9009995" cy="67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Streamlit</a:t>
            </a:r>
            <a:endParaRPr sz="3600" b="1" i="0" u="none" strike="noStrike" cap="none">
              <a:solidFill>
                <a:schemeClr val="accent3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0180579" y="-1843462"/>
            <a:ext cx="4516821" cy="443834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0720548" y="-1377866"/>
            <a:ext cx="3436882" cy="342104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11298618" y="-759408"/>
            <a:ext cx="2280744" cy="2270234"/>
          </a:xfrm>
          <a:prstGeom prst="ellipse">
            <a:avLst/>
          </a:prstGeom>
          <a:solidFill>
            <a:srgbClr val="008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733100" y="1362650"/>
            <a:ext cx="9987600" cy="493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</a:rPr>
              <a:t>Streamlit</a:t>
            </a:r>
            <a:r>
              <a:rPr lang="en-US" sz="1800" dirty="0">
                <a:solidFill>
                  <a:schemeClr val="dk1"/>
                </a:solidFill>
              </a:rPr>
              <a:t> is an open-source Python library for building interactive web apps for data science and ML with minimal effort.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</a:rPr>
              <a:t>Why use </a:t>
            </a:r>
            <a:r>
              <a:rPr lang="en-US" sz="2400" b="1" dirty="0" err="1">
                <a:solidFill>
                  <a:schemeClr val="dk1"/>
                </a:solidFill>
              </a:rPr>
              <a:t>Streamlit</a:t>
            </a:r>
            <a:r>
              <a:rPr lang="en-US" sz="2400" b="1" dirty="0">
                <a:solidFill>
                  <a:schemeClr val="dk1"/>
                </a:solidFill>
              </a:rPr>
              <a:t>?</a:t>
            </a:r>
            <a:endParaRPr sz="24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No need to know HTML/CSS/JS</a:t>
            </a:r>
            <a:br>
              <a:rPr lang="en-US" sz="1800" dirty="0"/>
            </a:br>
            <a:endParaRPr sz="18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Great for prototyping and dashboards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</a:rPr>
              <a:t>Use cases: </a:t>
            </a:r>
            <a:endParaRPr sz="24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Model demos, dashboards, internal tools</a:t>
            </a:r>
            <a:endParaRPr sz="1800" dirty="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8" descr="A green text on a black background&#10;&#10;AI-generated content may be incorrect.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382252" y="5626100"/>
            <a:ext cx="2806700" cy="123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"/>
          <p:cNvSpPr txBox="1"/>
          <p:nvPr/>
        </p:nvSpPr>
        <p:spPr>
          <a:xfrm>
            <a:off x="355601" y="332656"/>
            <a:ext cx="9387490" cy="67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Input Widget</a:t>
            </a:r>
            <a:endParaRPr sz="3600" b="1" i="0" u="none" strike="noStrike" cap="none">
              <a:solidFill>
                <a:schemeClr val="accent3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10180579" y="-1843462"/>
            <a:ext cx="4516821" cy="443834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0720548" y="-1377866"/>
            <a:ext cx="3436882" cy="342104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11298618" y="-759408"/>
            <a:ext cx="2280744" cy="2270234"/>
          </a:xfrm>
          <a:prstGeom prst="ellipse">
            <a:avLst/>
          </a:prstGeom>
          <a:solidFill>
            <a:srgbClr val="008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851333" y="1225245"/>
            <a:ext cx="8789400" cy="28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 panose="00000500000000000000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st.text_input()</a:t>
            </a:r>
            <a:endParaRPr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 panose="00000500000000000000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st.number_input()</a:t>
            </a:r>
            <a:endParaRPr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 panose="00000500000000000000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st.slider()</a:t>
            </a:r>
            <a:endParaRPr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 panose="00000500000000000000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st.selectbox()</a:t>
            </a:r>
            <a:endParaRPr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 panose="00000500000000000000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st.button()</a:t>
            </a:r>
            <a:endParaRPr sz="24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g34eb2530551_0_23" descr="A green text on a black background&#10;&#10;AI-generated content may be incorrect.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382252" y="5626100"/>
            <a:ext cx="2806700" cy="123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4eb2530551_0_23"/>
          <p:cNvSpPr txBox="1"/>
          <p:nvPr/>
        </p:nvSpPr>
        <p:spPr>
          <a:xfrm>
            <a:off x="523105" y="332656"/>
            <a:ext cx="93876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Common Widgets</a:t>
            </a:r>
            <a:endParaRPr lang="en-US" sz="3600" b="1">
              <a:solidFill>
                <a:schemeClr val="accent3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Play" panose="00000500000000000000"/>
              <a:buNone/>
            </a:pPr>
            <a:endParaRPr sz="3600" b="1" i="0" u="none" strike="noStrike" cap="none">
              <a:solidFill>
                <a:schemeClr val="accent3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sp>
        <p:nvSpPr>
          <p:cNvPr id="196" name="Google Shape;196;g34eb2530551_0_23"/>
          <p:cNvSpPr/>
          <p:nvPr/>
        </p:nvSpPr>
        <p:spPr>
          <a:xfrm>
            <a:off x="10180579" y="-1843462"/>
            <a:ext cx="4516800" cy="44382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7" name="Google Shape;197;g34eb2530551_0_23"/>
          <p:cNvSpPr/>
          <p:nvPr/>
        </p:nvSpPr>
        <p:spPr>
          <a:xfrm>
            <a:off x="10720548" y="-1377866"/>
            <a:ext cx="3436800" cy="3420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8" name="Google Shape;198;g34eb2530551_0_23"/>
          <p:cNvSpPr/>
          <p:nvPr/>
        </p:nvSpPr>
        <p:spPr>
          <a:xfrm>
            <a:off x="11298618" y="-759408"/>
            <a:ext cx="2280600" cy="2270100"/>
          </a:xfrm>
          <a:prstGeom prst="ellipse">
            <a:avLst/>
          </a:prstGeom>
          <a:solidFill>
            <a:srgbClr val="008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199" name="Google Shape;199;g34eb2530551_0_23"/>
          <p:cNvGraphicFramePr/>
          <p:nvPr/>
        </p:nvGraphicFramePr>
        <p:xfrm>
          <a:off x="713850" y="1366800"/>
          <a:ext cx="9807600" cy="3925143"/>
        </p:xfrm>
        <a:graphic>
          <a:graphicData uri="http://schemas.openxmlformats.org/drawingml/2006/table">
            <a:tbl>
              <a:tblPr>
                <a:noFill/>
                <a:tableStyleId>{D165A9AC-2AAD-4B7A-B530-36E07F061F2D}</a:tableStyleId>
              </a:tblPr>
              <a:tblGrid>
                <a:gridCol w="2497200"/>
                <a:gridCol w="3524300"/>
                <a:gridCol w="3786100"/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Widget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Function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Example Use Case</a:t>
                      </a:r>
                      <a:endParaRPr sz="1100" b="1"/>
                    </a:p>
                  </a:txBody>
                  <a:tcPr marL="91425" marR="91425" marT="91425" marB="91425"/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88038"/>
                          </a:solidFill>
                          <a:latin typeface="Roboto Mono" panose="00000009000000000000"/>
                          <a:ea typeface="Roboto Mono" panose="00000009000000000000"/>
                          <a:cs typeface="Roboto Mono" panose="00000009000000000000"/>
                          <a:sym typeface="Roboto Mono" panose="00000009000000000000"/>
                        </a:rPr>
                        <a:t>st.text_input()</a:t>
                      </a:r>
                      <a:endParaRPr sz="1100">
                        <a:solidFill>
                          <a:srgbClr val="188038"/>
                        </a:solidFill>
                        <a:latin typeface="Roboto Mono" panose="00000009000000000000"/>
                        <a:ea typeface="Roboto Mono" panose="00000009000000000000"/>
                        <a:cs typeface="Roboto Mono" panose="00000009000000000000"/>
                        <a:sym typeface="Roboto Mono" panose="0000000900000000000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Text entry from user</a:t>
                      </a:r>
                      <a:endParaRPr lang="en-US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Name, username</a:t>
                      </a:r>
                      <a:endParaRPr lang="en-US"/>
                    </a:p>
                  </a:txBody>
                  <a:tcPr marL="91425" marR="91425" marT="91425" marB="91425"/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88038"/>
                          </a:solidFill>
                          <a:latin typeface="Roboto Mono" panose="00000009000000000000"/>
                          <a:ea typeface="Roboto Mono" panose="00000009000000000000"/>
                          <a:cs typeface="Roboto Mono" panose="00000009000000000000"/>
                          <a:sym typeface="Roboto Mono" panose="00000009000000000000"/>
                        </a:rPr>
                        <a:t>st.number_input()</a:t>
                      </a:r>
                      <a:endParaRPr sz="1100">
                        <a:solidFill>
                          <a:srgbClr val="188038"/>
                        </a:solidFill>
                        <a:latin typeface="Roboto Mono" panose="00000009000000000000"/>
                        <a:ea typeface="Roboto Mono" panose="00000009000000000000"/>
                        <a:cs typeface="Roboto Mono" panose="00000009000000000000"/>
                        <a:sym typeface="Roboto Mono" panose="0000000900000000000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Numeric input</a:t>
                      </a:r>
                      <a:endParaRPr lang="en-US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Age, weight, height</a:t>
                      </a:r>
                      <a:endParaRPr lang="en-US"/>
                    </a:p>
                  </a:txBody>
                  <a:tcPr marL="91425" marR="91425" marT="91425" marB="91425"/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88038"/>
                          </a:solidFill>
                          <a:latin typeface="Roboto Mono" panose="00000009000000000000"/>
                          <a:ea typeface="Roboto Mono" panose="00000009000000000000"/>
                          <a:cs typeface="Roboto Mono" panose="00000009000000000000"/>
                          <a:sym typeface="Roboto Mono" panose="00000009000000000000"/>
                        </a:rPr>
                        <a:t>st.slider()</a:t>
                      </a:r>
                      <a:endParaRPr sz="1100">
                        <a:solidFill>
                          <a:srgbClr val="188038"/>
                        </a:solidFill>
                        <a:latin typeface="Roboto Mono" panose="00000009000000000000"/>
                        <a:ea typeface="Roboto Mono" panose="00000009000000000000"/>
                        <a:cs typeface="Roboto Mono" panose="00000009000000000000"/>
                        <a:sym typeface="Roboto Mono" panose="0000000900000000000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Select value using a slider</a:t>
                      </a:r>
                      <a:endParaRPr lang="en-US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Ratings, range filters</a:t>
                      </a:r>
                      <a:endParaRPr lang="en-US"/>
                    </a:p>
                  </a:txBody>
                  <a:tcPr marL="91425" marR="91425" marT="91425" marB="91425"/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88038"/>
                          </a:solidFill>
                          <a:latin typeface="Roboto Mono" panose="00000009000000000000"/>
                          <a:ea typeface="Roboto Mono" panose="00000009000000000000"/>
                          <a:cs typeface="Roboto Mono" panose="00000009000000000000"/>
                          <a:sym typeface="Roboto Mono" panose="00000009000000000000"/>
                        </a:rPr>
                        <a:t>st.selectbox()</a:t>
                      </a:r>
                      <a:endParaRPr sz="1100">
                        <a:solidFill>
                          <a:srgbClr val="188038"/>
                        </a:solidFill>
                        <a:latin typeface="Roboto Mono" panose="00000009000000000000"/>
                        <a:ea typeface="Roboto Mono" panose="00000009000000000000"/>
                        <a:cs typeface="Roboto Mono" panose="00000009000000000000"/>
                        <a:sym typeface="Roboto Mono" panose="0000000900000000000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Dropdown menu</a:t>
                      </a:r>
                      <a:endParaRPr lang="en-US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Category selection</a:t>
                      </a:r>
                      <a:endParaRPr lang="en-US"/>
                    </a:p>
                  </a:txBody>
                  <a:tcPr marL="91425" marR="91425" marT="91425" marB="91425"/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88038"/>
                          </a:solidFill>
                          <a:latin typeface="Roboto Mono" panose="00000009000000000000"/>
                          <a:ea typeface="Roboto Mono" panose="00000009000000000000"/>
                          <a:cs typeface="Roboto Mono" panose="00000009000000000000"/>
                          <a:sym typeface="Roboto Mono" panose="00000009000000000000"/>
                        </a:rPr>
                        <a:t>st.checkbox()</a:t>
                      </a:r>
                      <a:endParaRPr sz="1100">
                        <a:solidFill>
                          <a:srgbClr val="188038"/>
                        </a:solidFill>
                        <a:latin typeface="Roboto Mono" panose="00000009000000000000"/>
                        <a:ea typeface="Roboto Mono" panose="00000009000000000000"/>
                        <a:cs typeface="Roboto Mono" panose="00000009000000000000"/>
                        <a:sym typeface="Roboto Mono" panose="0000000900000000000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Toggle on/off (True/False)</a:t>
                      </a:r>
                      <a:endParaRPr lang="en-US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Accept terms, enable options</a:t>
                      </a:r>
                      <a:endParaRPr lang="en-US"/>
                    </a:p>
                  </a:txBody>
                  <a:tcPr marL="91425" marR="91425" marT="91425" marB="91425"/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88038"/>
                          </a:solidFill>
                          <a:latin typeface="Roboto Mono" panose="00000009000000000000"/>
                          <a:ea typeface="Roboto Mono" panose="00000009000000000000"/>
                          <a:cs typeface="Roboto Mono" panose="00000009000000000000"/>
                          <a:sym typeface="Roboto Mono" panose="00000009000000000000"/>
                        </a:rPr>
                        <a:t>st.radio()</a:t>
                      </a:r>
                      <a:endParaRPr sz="1100">
                        <a:solidFill>
                          <a:srgbClr val="188038"/>
                        </a:solidFill>
                        <a:latin typeface="Roboto Mono" panose="00000009000000000000"/>
                        <a:ea typeface="Roboto Mono" panose="00000009000000000000"/>
                        <a:cs typeface="Roboto Mono" panose="00000009000000000000"/>
                        <a:sym typeface="Roboto Mono" panose="0000000900000000000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Single choice from options</a:t>
                      </a:r>
                      <a:endParaRPr lang="en-US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Gender, filters</a:t>
                      </a:r>
                      <a:endParaRPr lang="en-US"/>
                    </a:p>
                  </a:txBody>
                  <a:tcPr marL="91425" marR="91425" marT="91425" marB="91425"/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88038"/>
                          </a:solidFill>
                          <a:latin typeface="Roboto Mono" panose="00000009000000000000"/>
                          <a:ea typeface="Roboto Mono" panose="00000009000000000000"/>
                          <a:cs typeface="Roboto Mono" panose="00000009000000000000"/>
                          <a:sym typeface="Roboto Mono" panose="00000009000000000000"/>
                        </a:rPr>
                        <a:t>st.button()</a:t>
                      </a:r>
                      <a:endParaRPr sz="1100">
                        <a:solidFill>
                          <a:srgbClr val="188038"/>
                        </a:solidFill>
                        <a:latin typeface="Roboto Mono" panose="00000009000000000000"/>
                        <a:ea typeface="Roboto Mono" panose="00000009000000000000"/>
                        <a:cs typeface="Roboto Mono" panose="00000009000000000000"/>
                        <a:sym typeface="Roboto Mono" panose="0000000900000000000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Click to trigger actions</a:t>
                      </a:r>
                      <a:endParaRPr lang="en-US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Submit, calculate, refresh</a:t>
                      </a:r>
                      <a:endParaRPr lang="en-US"/>
                    </a:p>
                  </a:txBody>
                  <a:tcPr marL="91425" marR="91425" marT="91425" marB="91425"/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88038"/>
                          </a:solidFill>
                          <a:latin typeface="Roboto Mono" panose="00000009000000000000"/>
                          <a:ea typeface="Roboto Mono" panose="00000009000000000000"/>
                          <a:cs typeface="Roboto Mono" panose="00000009000000000000"/>
                          <a:sym typeface="Roboto Mono" panose="00000009000000000000"/>
                        </a:rPr>
                        <a:t>st.date_input()</a:t>
                      </a:r>
                      <a:endParaRPr sz="1100">
                        <a:solidFill>
                          <a:srgbClr val="188038"/>
                        </a:solidFill>
                        <a:latin typeface="Roboto Mono" panose="00000009000000000000"/>
                        <a:ea typeface="Roboto Mono" panose="00000009000000000000"/>
                        <a:cs typeface="Roboto Mono" panose="00000009000000000000"/>
                        <a:sym typeface="Roboto Mono" panose="0000000900000000000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Pick a calendar date</a:t>
                      </a:r>
                      <a:endParaRPr lang="en-US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Bookings, events</a:t>
                      </a:r>
                      <a:endParaRPr lang="en-US"/>
                    </a:p>
                  </a:txBody>
                  <a:tcPr marL="91425" marR="91425" marT="91425" marB="91425"/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88038"/>
                          </a:solidFill>
                          <a:latin typeface="Roboto Mono" panose="00000009000000000000"/>
                          <a:ea typeface="Roboto Mono" panose="00000009000000000000"/>
                          <a:cs typeface="Roboto Mono" panose="00000009000000000000"/>
                          <a:sym typeface="Roboto Mono" panose="00000009000000000000"/>
                        </a:rPr>
                        <a:t>st.time_input()</a:t>
                      </a:r>
                      <a:endParaRPr sz="1100">
                        <a:solidFill>
                          <a:srgbClr val="188038"/>
                        </a:solidFill>
                        <a:latin typeface="Roboto Mono" panose="00000009000000000000"/>
                        <a:ea typeface="Roboto Mono" panose="00000009000000000000"/>
                        <a:cs typeface="Roboto Mono" panose="00000009000000000000"/>
                        <a:sym typeface="Roboto Mono" panose="0000000900000000000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Select a time</a:t>
                      </a:r>
                      <a:endParaRPr lang="en-US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Alarms, scheduling</a:t>
                      </a:r>
                      <a:endParaRPr lang="en-US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 txBox="1"/>
          <p:nvPr/>
        </p:nvSpPr>
        <p:spPr>
          <a:xfrm>
            <a:off x="560963" y="229104"/>
            <a:ext cx="9387490" cy="67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Output Widget</a:t>
            </a:r>
            <a:endParaRPr lang="en-US" sz="3600" b="1">
              <a:solidFill>
                <a:schemeClr val="accent3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chemeClr val="accent3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Play" panose="00000500000000000000"/>
              <a:buNone/>
            </a:pPr>
            <a:endParaRPr sz="3600" b="1" i="0" u="none" strike="noStrike" cap="none">
              <a:solidFill>
                <a:schemeClr val="accent3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pic>
        <p:nvPicPr>
          <p:cNvPr id="205" name="Google Shape;205;p10" descr="A green text on a black background&#10;&#10;AI-generated content may be incorrect.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382252" y="5626100"/>
            <a:ext cx="2806700" cy="123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0"/>
          <p:cNvSpPr/>
          <p:nvPr/>
        </p:nvSpPr>
        <p:spPr>
          <a:xfrm>
            <a:off x="10180579" y="-1843462"/>
            <a:ext cx="4516821" cy="443834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10720548" y="-1377866"/>
            <a:ext cx="3436882" cy="342104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11298618" y="-759408"/>
            <a:ext cx="2280744" cy="2270234"/>
          </a:xfrm>
          <a:prstGeom prst="ellipse">
            <a:avLst/>
          </a:prstGeom>
          <a:solidFill>
            <a:srgbClr val="008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9" name="Google Shape;209;p10"/>
          <p:cNvSpPr txBox="1"/>
          <p:nvPr/>
        </p:nvSpPr>
        <p:spPr>
          <a:xfrm>
            <a:off x="962500" y="1203125"/>
            <a:ext cx="6216300" cy="23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318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Char char="●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st.write()</a:t>
            </a:r>
            <a:endParaRPr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Char char="●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st.text()</a:t>
            </a:r>
            <a:endParaRPr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Char char="●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st.markdown()</a:t>
            </a:r>
            <a:endParaRPr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Char char="●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st.success(), st.error(), st.warning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26578" y="685680"/>
            <a:ext cx="4203323" cy="3596201"/>
          </a:xfrm>
        </p:spPr>
        <p:txBody>
          <a:bodyPr>
            <a:normAutofit fontScale="90000"/>
          </a:bodyPr>
          <a:lstStyle/>
          <a:p>
            <a:pPr algn="r"/>
            <a:r>
              <a:rPr lang="en-GB" sz="3800">
                <a:solidFill>
                  <a:schemeClr val="bg1"/>
                </a:solidFill>
              </a:rPr>
              <a:t> </a:t>
            </a:r>
            <a:br>
              <a:rPr lang="en-GB" sz="3800">
                <a:solidFill>
                  <a:schemeClr val="bg1"/>
                </a:solidFill>
              </a:rPr>
            </a:br>
            <a:br>
              <a:rPr lang="en-GB" sz="3800">
                <a:solidFill>
                  <a:schemeClr val="bg1"/>
                </a:solidFill>
              </a:rPr>
            </a:br>
            <a:r>
              <a:rPr lang="en-GB" sz="3800">
                <a:solidFill>
                  <a:schemeClr val="bg1"/>
                </a:solidFill>
              </a:rPr>
              <a:t>Project 3  : Used Car Price Prediction Model (using</a:t>
            </a:r>
            <a:r>
              <a:rPr lang="en-US" altLang="en-GB" sz="3800">
                <a:solidFill>
                  <a:schemeClr val="bg1"/>
                </a:solidFill>
              </a:rPr>
              <a:t> random forest regressor</a:t>
            </a:r>
            <a:r>
              <a:rPr lang="en-GB" sz="3800">
                <a:solidFill>
                  <a:schemeClr val="bg1"/>
                </a:solidFill>
              </a:rPr>
              <a:t> )</a:t>
            </a:r>
            <a:endParaRPr lang="en-GB" sz="3800">
              <a:solidFill>
                <a:schemeClr val="bg1"/>
              </a:solidFill>
            </a:endParaRPr>
          </a:p>
        </p:txBody>
      </p:sp>
      <p:grpSp>
        <p:nvGrpSpPr>
          <p:cNvPr id="18" name="Group 17"/>
          <p:cNvGrpSpPr>
            <a:grpSpLocks noGrp="1" noRot="1" noChangeAspect="1" noMove="1" noResize="1" noUngrp="1"/>
          </p:cNvGrpSpPr>
          <p:nvPr/>
        </p:nvGrpSpPr>
        <p:grpSpPr>
          <a:xfrm>
            <a:off x="1508013" y="1361348"/>
            <a:ext cx="4833902" cy="4258176"/>
            <a:chOff x="1674895" y="1345036"/>
            <a:chExt cx="5428610" cy="4210939"/>
          </a:xfrm>
        </p:grpSpPr>
        <p:sp>
          <p:nvSpPr>
            <p:cNvPr id="19" name="Rectangle 18"/>
            <p:cNvSpPr/>
            <p:nvPr/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2" name="Freeform: Shap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58003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4" name="Freeform: Shap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01976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369494" y="1220741"/>
            <a:ext cx="4833901" cy="4258176"/>
          </a:xfrm>
          <a:prstGeom prst="rect">
            <a:avLst/>
          </a:prstGeom>
          <a:solidFill>
            <a:schemeClr val="tx1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369494" y="1220741"/>
            <a:ext cx="4833901" cy="42581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Oval 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Graphic 2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211971" y="858936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6" name="Graphic 2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211971" y="858936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38" name="Graphic 185"/>
          <p:cNvGrpSpPr>
            <a:grpSpLocks noGrp="1" noRot="1" noChangeAspect="1" noMove="1" noResize="1" noUngrp="1"/>
          </p:cNvGrpSpPr>
          <p:nvPr/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9" name="Freeform: Shape 38"/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/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/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/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/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0" name="Picture 9" descr="A screenshot of a car price prediction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9897" y="1600026"/>
            <a:ext cx="3592595" cy="361064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5" descr="A green text on a black background&#10;&#10;AI-generated content may be incorrect.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382252" y="5626100"/>
            <a:ext cx="2806700" cy="123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 txBox="1"/>
          <p:nvPr/>
        </p:nvSpPr>
        <p:spPr>
          <a:xfrm>
            <a:off x="607188" y="332656"/>
            <a:ext cx="9387490" cy="67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accent3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Summary</a:t>
            </a:r>
            <a:endParaRPr lang="en-US" sz="3600" b="1">
              <a:solidFill>
                <a:schemeClr val="accent3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10180579" y="-1843462"/>
            <a:ext cx="4516821" cy="443834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10720548" y="-1377866"/>
            <a:ext cx="3436882" cy="342104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11298618" y="-759408"/>
            <a:ext cx="2280744" cy="2270234"/>
          </a:xfrm>
          <a:prstGeom prst="ellipse">
            <a:avLst/>
          </a:prstGeom>
          <a:solidFill>
            <a:srgbClr val="008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9" name="Google Shape;249;p25"/>
          <p:cNvSpPr txBox="1"/>
          <p:nvPr/>
        </p:nvSpPr>
        <p:spPr>
          <a:xfrm>
            <a:off x="733096" y="1510826"/>
            <a:ext cx="8649300" cy="24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3200" dirty="0" err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Streamlit</a:t>
            </a:r>
            <a:r>
              <a:rPr lang="en-US" sz="32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is a python library to build web apps for data science &amp; ML</a:t>
            </a:r>
            <a:endParaRPr sz="32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32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Lightweight and fast</a:t>
            </a:r>
            <a:endParaRPr sz="32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 front-end experience needed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2889</Words>
  <Application>WPS Presentation</Application>
  <PresentationFormat>Widescreen</PresentationFormat>
  <Paragraphs>163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SimSun</vt:lpstr>
      <vt:lpstr>Wingdings</vt:lpstr>
      <vt:lpstr>Arial</vt:lpstr>
      <vt:lpstr>Play</vt:lpstr>
      <vt:lpstr>Montserrat</vt:lpstr>
      <vt:lpstr>Noto Sans Symbols</vt:lpstr>
      <vt:lpstr>Segoe Print</vt:lpstr>
      <vt:lpstr>Calibri</vt:lpstr>
      <vt:lpstr>Roboto Mono</vt:lpstr>
      <vt:lpstr>Microsoft YaHei</vt:lpstr>
      <vt:lpstr>Arial Unicode MS</vt:lpstr>
      <vt:lpstr>Futura Medium</vt:lpstr>
      <vt:lpstr>Arial,Sans-Serif</vt:lpstr>
      <vt:lpstr>Times New Roman</vt:lpstr>
      <vt:lpstr>Office Theme</vt:lpstr>
      <vt:lpstr>PowerPoint 演示文稿</vt:lpstr>
      <vt:lpstr>PowerPoint 演示文稿</vt:lpstr>
      <vt:lpstr>PowerPoint 演示文稿</vt:lpstr>
      <vt:lpstr>Vrushali Sarwan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Project 3  : Used Car Price Prediction Model (using linear regression 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Rabiya Kulsum</dc:creator>
  <cp:lastModifiedBy>Vrushali Sarwan</cp:lastModifiedBy>
  <cp:revision>47</cp:revision>
  <dcterms:created xsi:type="dcterms:W3CDTF">2025-03-20T08:16:00Z</dcterms:created>
  <dcterms:modified xsi:type="dcterms:W3CDTF">2026-02-07T14:03:29Z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C61CFEC9C6964C8BA314F9CF3481CCF9_12</vt:lpwstr>
  </property>
  <property fmtid="{D5CDD505-2E9C-101B-9397-08002B2CF9AE}" pid="3" name="KSOProductBuildVer">
    <vt:lpwstr>2057-12.2.0.23197</vt:lpwstr>
  </property>
</Properties>
</file>